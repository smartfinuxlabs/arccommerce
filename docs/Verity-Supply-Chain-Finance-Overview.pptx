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754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5C"/>
                </a:solidFill>
              </a:rPr>
              <a:t>Smart Finux Labs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12344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20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Verity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2029968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201F"/>
                </a:solidFill>
              </a:rPr>
              <a:t>On-chain supply chain finance for buyer-confirmed Due Value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76656" y="2907792"/>
            <a:ext cx="5349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5D6A67"/>
                </a:solidFill>
              </a:rPr>
              <a:t>Verity turns invoice claims into accounting-valid obligations, then coordinates factoring, USDC escrow, settlement, and payment profile evidence across suppliers, buyers, and investors.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537960" y="932688"/>
            <a:ext cx="4846320" cy="4498848"/>
          </a:xfrm>
          <a:prstGeom prst="roundRect">
            <a:avLst>
              <a:gd name="adj" fmla="val 813"/>
            </a:avLst>
          </a:prstGeom>
          <a:solidFill>
            <a:srgbClr val="FFFFFF"/>
          </a:solidFill>
          <a:ln w="12700">
            <a:solidFill>
              <a:srgbClr val="D7D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03720" y="1261872"/>
            <a:ext cx="91440" cy="603504"/>
          </a:xfrm>
          <a:prstGeom prst="rect">
            <a:avLst/>
          </a:prstGeom>
          <a:solidFill>
            <a:srgbClr val="1F7A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50608" y="12527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5C"/>
                </a:solidFill>
              </a:rPr>
              <a:t>Supplier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75320" y="1188720"/>
            <a:ext cx="2651760" cy="713232"/>
          </a:xfrm>
          <a:prstGeom prst="roundRect">
            <a:avLst>
              <a:gd name="adj" fmla="val 5128"/>
            </a:avLst>
          </a:prstGeom>
          <a:solidFill>
            <a:srgbClr val="DDF3EA"/>
          </a:solidFill>
          <a:ln w="12700">
            <a:solidFill>
              <a:srgbClr val="DDF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53312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6201F"/>
                </a:solidFill>
              </a:rPr>
              <a:t>Creates structured invoice and requests factoring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903720" y="2221992"/>
            <a:ext cx="91440" cy="603504"/>
          </a:xfrm>
          <a:prstGeom prst="rect">
            <a:avLst/>
          </a:prstGeom>
          <a:solidFill>
            <a:srgbClr val="244D7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0608" y="221284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D73"/>
                </a:solidFill>
              </a:rPr>
              <a:t>Buyer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75320" y="2148840"/>
            <a:ext cx="2651760" cy="713232"/>
          </a:xfrm>
          <a:prstGeom prst="roundRect">
            <a:avLst>
              <a:gd name="adj" fmla="val 5128"/>
            </a:avLst>
          </a:prstGeom>
          <a:solidFill>
            <a:srgbClr val="E9F2FA"/>
          </a:solidFill>
          <a:ln w="12700">
            <a:solidFill>
              <a:srgbClr val="E9F2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49056" y="2313432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6201F"/>
                </a:solidFill>
              </a:rPr>
              <a:t>Validates evidence and confirms Due Value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903720" y="3182112"/>
            <a:ext cx="91440" cy="603504"/>
          </a:xfrm>
          <a:prstGeom prst="rect">
            <a:avLst/>
          </a:prstGeom>
          <a:solidFill>
            <a:srgbClr val="B9822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50608" y="317296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22D"/>
                </a:solidFill>
              </a:rPr>
              <a:t>Investor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275320" y="3108960"/>
            <a:ext cx="2651760" cy="713232"/>
          </a:xfrm>
          <a:prstGeom prst="roundRect">
            <a:avLst>
              <a:gd name="adj" fmla="val 5128"/>
            </a:avLst>
          </a:prstGeom>
          <a:solidFill>
            <a:srgbClr val="F8E7C4"/>
          </a:solidFill>
          <a:ln w="12700">
            <a:solidFill>
              <a:srgbClr val="F8E7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49056" y="3273552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6201F"/>
                </a:solidFill>
              </a:rPr>
              <a:t>Funds accepted receivable for yield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903720" y="4142232"/>
            <a:ext cx="91440" cy="603504"/>
          </a:xfrm>
          <a:prstGeom prst="rect">
            <a:avLst/>
          </a:prstGeom>
          <a:solidFill>
            <a:srgbClr val="C9533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50608" y="413308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533B"/>
                </a:solidFill>
              </a:rPr>
              <a:t>Escrow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75320" y="4069080"/>
            <a:ext cx="2651760" cy="713232"/>
          </a:xfrm>
          <a:prstGeom prst="roundRect">
            <a:avLst>
              <a:gd name="adj" fmla="val 5128"/>
            </a:avLst>
          </a:prstGeom>
          <a:solidFill>
            <a:srgbClr val="F7E4DE"/>
          </a:solidFill>
          <a:ln w="12700">
            <a:solidFill>
              <a:srgbClr val="F7E4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49056" y="4233672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6201F"/>
                </a:solidFill>
              </a:rPr>
              <a:t>Distributes advance, repayment, yield, and residual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13232" y="50017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7A5C"/>
                </a:solidFill>
              </a:rPr>
              <a:t>Product principle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13232" y="526694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F"/>
                </a:solidFill>
              </a:rPr>
              <a:t>Only buyer-accepted Due Value is financeable.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0160">
            <a:solidFill>
              <a:srgbClr val="D7DF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6473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Finux Labs · Verity SCF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20140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 RESOLUTION LAYER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20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platform resolves commercial value before it releases finance.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E9F2FA"/>
          </a:solidFill>
          <a:ln w="13970">
            <a:solidFill>
              <a:srgbClr val="244D7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4D73"/>
                </a:solidFill>
              </a:rPr>
              <a:t>REQUEST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955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201F"/>
                </a:solidFill>
              </a:rPr>
              <a:t>PO intent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331720" y="2212848"/>
            <a:ext cx="329184" cy="310896"/>
          </a:xfrm>
          <a:prstGeom prst="chevron">
            <a:avLst/>
          </a:prstGeom>
          <a:solidFill>
            <a:srgbClr val="D7DFD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146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E9F2FA"/>
          </a:solidFill>
          <a:ln w="13970">
            <a:solidFill>
              <a:srgbClr val="244D7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243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4D73"/>
                </a:solidFill>
              </a:rPr>
              <a:t>DELIVER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6243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201F"/>
                </a:solidFill>
              </a:rPr>
              <a:t>performance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60520" y="2212848"/>
            <a:ext cx="329184" cy="310896"/>
          </a:xfrm>
          <a:prstGeom prst="chevron">
            <a:avLst/>
          </a:prstGeom>
          <a:solidFill>
            <a:srgbClr val="D7DFD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F8E7C4"/>
          </a:solidFill>
          <a:ln w="13970">
            <a:solidFill>
              <a:srgbClr val="B982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531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822D"/>
                </a:solidFill>
              </a:rPr>
              <a:t>INVOICE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531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201F"/>
                </a:solidFill>
              </a:rPr>
              <a:t>Ask Value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89320" y="2212848"/>
            <a:ext cx="329184" cy="310896"/>
          </a:xfrm>
          <a:prstGeom prst="chevron">
            <a:avLst/>
          </a:prstGeom>
          <a:solidFill>
            <a:srgbClr val="D7DFD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F8E7C4"/>
          </a:solidFill>
          <a:ln w="13970">
            <a:solidFill>
              <a:srgbClr val="B982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19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822D"/>
                </a:solidFill>
              </a:rPr>
              <a:t>MATCH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819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201F"/>
                </a:solidFill>
              </a:rPr>
              <a:t>evidence test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818120" y="2212848"/>
            <a:ext cx="329184" cy="310896"/>
          </a:xfrm>
          <a:prstGeom prst="chevron">
            <a:avLst/>
          </a:prstGeom>
          <a:solidFill>
            <a:srgbClr val="D7DFD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010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DDF3EA"/>
          </a:solidFill>
          <a:ln w="13970">
            <a:solidFill>
              <a:srgbClr val="1F7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7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7A5C"/>
                </a:solidFill>
              </a:rPr>
              <a:t>DUE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107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201F"/>
                </a:solidFill>
              </a:rPr>
              <a:t>accepted payable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646920" y="2212848"/>
            <a:ext cx="329184" cy="310896"/>
          </a:xfrm>
          <a:prstGeom prst="chevron">
            <a:avLst/>
          </a:prstGeom>
          <a:solidFill>
            <a:srgbClr val="D7DFD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298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DDF3EA"/>
          </a:solidFill>
          <a:ln w="13970">
            <a:solidFill>
              <a:srgbClr val="1F7A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395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7A5C"/>
                </a:solidFill>
              </a:rPr>
              <a:t>SETTLE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395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201F"/>
                </a:solidFill>
              </a:rPr>
              <a:t>received value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41248" y="3767328"/>
            <a:ext cx="10378440" cy="0"/>
          </a:xfrm>
          <a:prstGeom prst="line">
            <a:avLst/>
          </a:prstGeom>
          <a:noFill/>
          <a:ln w="15240">
            <a:solidFill>
              <a:srgbClr val="D7DF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16052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4D73"/>
                </a:solidFill>
              </a:rPr>
              <a:t>Accounting truth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8680" y="4517136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D6A67"/>
                </a:solidFill>
              </a:rPr>
              <a:t>PO, delivery, invoice, acceptance, and payment are distinct states.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4617720" y="416052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9822D"/>
                </a:solidFill>
              </a:rPr>
              <a:t>Risk control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17720" y="4517136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D6A67"/>
                </a:solidFill>
              </a:rPr>
              <a:t>Duplicate prevention and buyer acceptance block financing of weak claims.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8366760" y="416052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7A5C"/>
                </a:solidFill>
              </a:rPr>
              <a:t>Programmable settlement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66760" y="4517136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D6A67"/>
                </a:solidFill>
              </a:rPr>
              <a:t>USDC escrow distributes principal, yield, fees, and residual balances.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0160">
            <a:solidFill>
              <a:srgbClr val="D7DFD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6473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Finux Labs · Verity SCF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120140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VISUALIZATION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20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connects invoice truth, wallet funding, and settlement execution.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909560" cy="4526280"/>
          </a:xfrm>
          <a:prstGeom prst="roundRect">
            <a:avLst>
              <a:gd name="adj" fmla="val 808"/>
            </a:avLst>
          </a:prstGeom>
          <a:solidFill>
            <a:srgbClr val="FFFFFF"/>
          </a:solidFill>
          <a:ln w="12700">
            <a:solidFill>
              <a:srgbClr val="C8D7D3"/>
            </a:solidFill>
            <a:prstDash val="solid"/>
          </a:ln>
        </p:spPr>
      </p:sp>
      <p:pic>
        <p:nvPicPr>
          <p:cNvPr id="5" name="Image 0" descr="/Users/jhee/Workplaces/Projects/ConnextiumBootCamp/WeekofCircle/ArcCommerce/Products-SCF/Ideation/Round001/Architecture of Fianace Supply 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752" y="1691640"/>
            <a:ext cx="6144768" cy="40965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96528" y="1508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1F"/>
                </a:solidFill>
              </a:rPr>
              <a:t>What the architecture must prove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851392" y="2043684"/>
            <a:ext cx="64008" cy="6400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015984" y="199339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201F"/>
                </a:solidFill>
              </a:rPr>
              <a:t>Invoice claims are not financeable until buyer validation creates Due Value.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851392" y="2720340"/>
            <a:ext cx="64008" cy="6400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15984" y="26700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201F"/>
                </a:solidFill>
              </a:rPr>
              <a:t>Circle wallets and USDC settlement make the cash movement programmable.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851392" y="3396996"/>
            <a:ext cx="64008" cy="6400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015984" y="334670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201F"/>
                </a:solidFill>
              </a:rPr>
              <a:t>Escrow state creates an auditable path from advance to maturity repayment.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851392" y="4073652"/>
            <a:ext cx="64008" cy="6400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15984" y="402336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201F"/>
                </a:solidFill>
              </a:rPr>
              <a:t>Payment history becomes a reusable verifiable profile signal.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732520" y="4965192"/>
            <a:ext cx="2697480" cy="676656"/>
          </a:xfrm>
          <a:prstGeom prst="roundRect">
            <a:avLst>
              <a:gd name="adj" fmla="val 5405"/>
            </a:avLst>
          </a:prstGeom>
          <a:solidFill>
            <a:srgbClr val="0E1B1A"/>
          </a:solidFill>
          <a:ln w="12700">
            <a:solidFill>
              <a:srgbClr val="0E1B1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42832" y="5184648"/>
            <a:ext cx="22677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Required visual asset embedded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0160">
            <a:solidFill>
              <a:srgbClr val="D7DF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6473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Finux Labs · Verity SCF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1120140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WORKFLOW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20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user surfaces converge on one accepted receivable marketplace.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1536192"/>
            <a:ext cx="3246120" cy="4069080"/>
          </a:xfrm>
          <a:prstGeom prst="roundRect">
            <a:avLst>
              <a:gd name="adj" fmla="val 1127"/>
            </a:avLst>
          </a:prstGeom>
          <a:solidFill>
            <a:srgbClr val="DDF3EA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18105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5C"/>
                </a:solidFill>
              </a:rPr>
              <a:t>Supplier / SME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78408" y="2514600"/>
            <a:ext cx="310896" cy="310896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601468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435608" y="255117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201F"/>
                </a:solidFill>
              </a:rPr>
              <a:t>Create invoice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78408" y="3300984"/>
            <a:ext cx="310896" cy="310896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338785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35608" y="333756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6201F"/>
                </a:solidFill>
              </a:rPr>
              <a:t>Request factoring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78408" y="4087368"/>
            <a:ext cx="310896" cy="310896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" y="4174236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35608" y="412394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201F"/>
                </a:solidFill>
              </a:rPr>
              <a:t>Receive USDC advance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98848" y="1536192"/>
            <a:ext cx="3246120" cy="4069080"/>
          </a:xfrm>
          <a:prstGeom prst="roundRect">
            <a:avLst>
              <a:gd name="adj" fmla="val 1127"/>
            </a:avLst>
          </a:prstGeom>
          <a:solidFill>
            <a:srgbClr val="E9F2FA"/>
          </a:solidFill>
          <a:ln w="12700">
            <a:solidFill>
              <a:srgbClr val="244D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8105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4D73"/>
                </a:solidFill>
              </a:rPr>
              <a:t>Buyer / Enterprise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91456" y="2514600"/>
            <a:ext cx="310896" cy="310896"/>
          </a:xfrm>
          <a:prstGeom prst="ellipse">
            <a:avLst/>
          </a:prstGeom>
          <a:solidFill>
            <a:srgbClr val="244D73"/>
          </a:solidFill>
          <a:ln w="12700">
            <a:solidFill>
              <a:srgbClr val="244D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91456" y="2601468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248656" y="255117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201F"/>
                </a:solidFill>
              </a:rPr>
              <a:t>Review evidence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91456" y="3300984"/>
            <a:ext cx="310896" cy="310896"/>
          </a:xfrm>
          <a:prstGeom prst="ellipse">
            <a:avLst/>
          </a:prstGeom>
          <a:solidFill>
            <a:srgbClr val="244D73"/>
          </a:solidFill>
          <a:ln w="12700">
            <a:solidFill>
              <a:srgbClr val="244D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91456" y="338785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248656" y="333756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6201F"/>
                </a:solidFill>
              </a:rPr>
              <a:t>Accept Due Value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91456" y="4087368"/>
            <a:ext cx="310896" cy="310896"/>
          </a:xfrm>
          <a:prstGeom prst="ellipse">
            <a:avLst/>
          </a:prstGeom>
          <a:solidFill>
            <a:srgbClr val="244D73"/>
          </a:solidFill>
          <a:ln w="12700">
            <a:solidFill>
              <a:srgbClr val="244D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91456" y="4174236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248656" y="412394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201F"/>
                </a:solidFill>
              </a:rPr>
              <a:t>Repay at maturity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311896" y="1536192"/>
            <a:ext cx="3246120" cy="4069080"/>
          </a:xfrm>
          <a:prstGeom prst="roundRect">
            <a:avLst>
              <a:gd name="adj" fmla="val 1127"/>
            </a:avLst>
          </a:prstGeom>
          <a:solidFill>
            <a:srgbClr val="F8E7C4"/>
          </a:solidFill>
          <a:ln w="12700">
            <a:solidFill>
              <a:srgbClr val="B982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67928" y="18105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822D"/>
                </a:solidFill>
              </a:rPr>
              <a:t>Investor / Factor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604504" y="2514600"/>
            <a:ext cx="310896" cy="310896"/>
          </a:xfrm>
          <a:prstGeom prst="ellipse">
            <a:avLst/>
          </a:prstGeom>
          <a:solidFill>
            <a:srgbClr val="B9822D"/>
          </a:solidFill>
          <a:ln w="12700">
            <a:solidFill>
              <a:srgbClr val="B9822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04504" y="2601468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061704" y="255117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201F"/>
                </a:solidFill>
              </a:rPr>
              <a:t>Discover receivable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604504" y="3300984"/>
            <a:ext cx="310896" cy="310896"/>
          </a:xfrm>
          <a:prstGeom prst="ellipse">
            <a:avLst/>
          </a:prstGeom>
          <a:solidFill>
            <a:srgbClr val="B9822D"/>
          </a:solidFill>
          <a:ln w="12700">
            <a:solidFill>
              <a:srgbClr val="B9822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04504" y="338785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1704" y="333756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6201F"/>
                </a:solidFill>
              </a:rPr>
              <a:t>Fund escrow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604504" y="4087368"/>
            <a:ext cx="310896" cy="310896"/>
          </a:xfrm>
          <a:prstGeom prst="ellipse">
            <a:avLst/>
          </a:prstGeom>
          <a:solidFill>
            <a:srgbClr val="B9822D"/>
          </a:solidFill>
          <a:ln w="12700">
            <a:solidFill>
              <a:srgbClr val="B9822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04504" y="4174236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061704" y="412394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201F"/>
                </a:solidFill>
              </a:rPr>
              <a:t>Earn principal + yield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977640" y="3566160"/>
            <a:ext cx="502920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790688" y="3566160"/>
            <a:ext cx="502920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  <a:headEnd type="none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4882896" y="583387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533B"/>
                </a:solidFill>
              </a:rPr>
              <a:t>Control point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623560" y="58338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A67"/>
                </a:solidFill>
              </a:rPr>
              <a:t>Accepted value is separated from face value, making the financed asset auditable.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0160">
            <a:solidFill>
              <a:srgbClr val="D7DFD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6473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Finux Labs · Verity SCF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120140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20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MVP delivery proves the full Due Value-to-settlement loop.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42416" y="2212848"/>
            <a:ext cx="1444752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920240"/>
            <a:ext cx="713232" cy="713232"/>
          </a:xfrm>
          <a:prstGeom prst="ellipse">
            <a:avLst/>
          </a:prstGeom>
          <a:solidFill>
            <a:srgbClr val="244D73"/>
          </a:solidFill>
          <a:ln w="12700">
            <a:solidFill>
              <a:srgbClr val="244D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44D73"/>
                </a:solidFill>
              </a:rPr>
              <a:t>Align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D6A67"/>
                </a:solidFill>
              </a:rPr>
              <a:t>schemas, roles, state machine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2916936" y="2212848"/>
            <a:ext cx="1444752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32888" y="1920240"/>
            <a:ext cx="713232" cy="713232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3288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4144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F7A5C"/>
                </a:solidFill>
              </a:rPr>
              <a:t>Invoice truth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44144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D6A67"/>
                </a:solidFill>
              </a:rPr>
              <a:t>supplier issue + buyer acceptance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4791456" y="2212848"/>
            <a:ext cx="1444752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07408" y="1920240"/>
            <a:ext cx="713232" cy="713232"/>
          </a:xfrm>
          <a:prstGeom prst="ellipse">
            <a:avLst/>
          </a:prstGeom>
          <a:solidFill>
            <a:srgbClr val="B9822D"/>
          </a:solidFill>
          <a:ln w="12700">
            <a:solidFill>
              <a:srgbClr val="B982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0740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596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B9822D"/>
                </a:solidFill>
              </a:rPr>
              <a:t>Marketplace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1596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D6A67"/>
                </a:solidFill>
              </a:rPr>
              <a:t>factoring request + investor funding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6665976" y="2212848"/>
            <a:ext cx="1444752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1928" y="1920240"/>
            <a:ext cx="713232" cy="713232"/>
          </a:xfrm>
          <a:prstGeom prst="ellipse">
            <a:avLst/>
          </a:prstGeom>
          <a:solidFill>
            <a:srgbClr val="C9533B"/>
          </a:solidFill>
          <a:ln w="12700">
            <a:solidFill>
              <a:srgbClr val="C953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8192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9048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C9533B"/>
                </a:solidFill>
              </a:rPr>
              <a:t>Escrow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9048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D6A67"/>
                </a:solidFill>
              </a:rPr>
              <a:t>advance, retention, maturity settlement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8540496" y="2212848"/>
            <a:ext cx="1444752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6448" y="1920240"/>
            <a:ext cx="713232" cy="713232"/>
          </a:xfrm>
          <a:prstGeom prst="ellipse">
            <a:avLst/>
          </a:prstGeom>
          <a:solidFill>
            <a:srgbClr val="244D73"/>
          </a:solidFill>
          <a:ln w="12700">
            <a:solidFill>
              <a:srgbClr val="244D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5644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06500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44D73"/>
                </a:solidFill>
              </a:rPr>
              <a:t>Risk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6500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D6A67"/>
                </a:solidFill>
              </a:rPr>
              <a:t>delinquency + payment profile evidence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10415016" y="2212848"/>
            <a:ext cx="0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30968" y="1920240"/>
            <a:ext cx="713232" cy="713232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3096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93952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F7A5C"/>
                </a:solidFill>
              </a:rPr>
              <a:t>Demo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93952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D6A67"/>
                </a:solidFill>
              </a:rPr>
              <a:t>end-to-end validation and polish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914400" y="4645152"/>
            <a:ext cx="4800600" cy="868680"/>
          </a:xfrm>
          <a:prstGeom prst="roundRect">
            <a:avLst>
              <a:gd name="adj" fmla="val 4211"/>
            </a:avLst>
          </a:prstGeom>
          <a:solidFill>
            <a:srgbClr val="0E1B1A"/>
          </a:solidFill>
          <a:ln w="12700">
            <a:solidFill>
              <a:srgbClr val="0E1B1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34440" y="4882896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9EE2C5"/>
                </a:solidFill>
              </a:rPr>
              <a:t>MVP acceptance rule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2816352" y="4809744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End-to-end demo must show accepted Due Value financed, advanced, repaid, and reconciled.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6144768" y="4645152"/>
            <a:ext cx="502920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FD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37376" y="488289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F7A5C"/>
                </a:solidFill>
              </a:rPr>
              <a:t>Traceability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7388352" y="480974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6201F"/>
                </a:solidFill>
              </a:rPr>
              <a:t>Ideation -&gt; Use Cases -&gt; MVP Roadmap, with UC-001 through UC-014 validating the product thesis.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0160">
            <a:solidFill>
              <a:srgbClr val="D7DFD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2920" y="6473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Finux Labs · Verity SCF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120140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Smart Finux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Verity Supply Chain Finance Overview</dc:title>
  <dc:subject>Verity on-chain supply chain finance overview</dc:subject>
  <dc:creator>Smart Finux Labs</dc:creator>
  <cp:lastModifiedBy>Smart Finux Labs</cp:lastModifiedBy>
  <cp:revision>1</cp:revision>
  <dcterms:created xsi:type="dcterms:W3CDTF">2026-05-26T04:57:27Z</dcterms:created>
  <dcterms:modified xsi:type="dcterms:W3CDTF">2026-05-26T04:57:27Z</dcterms:modified>
</cp:coreProperties>
</file>