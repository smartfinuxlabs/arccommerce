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Verity overview cover.
Claim: Make Capital Due Value financeable across suppliers, buyers, investors, and escrow.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value states remain separate until commercial value is accepted.
Proof: accounting truth, risk controls, programmable USDC settlement.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Verity architecture connects invoice truth, wallet funding, and settlement execution.
Embedded architecture asset from docs/verity/assets.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supplier, buyer, and investor surfaces converge on a single accepted receivable marketplace.
Control point: accepted value is separated from face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MVP proves the full Due Value-to-settlement loop.
Roadmap phases: align, invoice truth, marketplace, escrow, risk,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AI accelerates risk judgment while deterministic acceptance and policy controls remain primary.
Signals: fraud, credit, operational, and portfolio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each workflow state gets an explainable AI output.
Workflow: submission, buyer review, funding eligibility, investor allocation, settlement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Claim: rollout should stay hybrid.
Policy gates remain deterministic; models are explainable and human-reviewable.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14447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3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621792" y="233172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3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supply chain finance for Capital Due Value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342900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turns invoice claims into accounting-valid obligations, then coordinates factoring, USDC escrow, settlement, and payment profile evidence across suppliers, buyers, and investors.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21792" y="47548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PRINCIPLE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1792" y="5010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Capital Due Value is financeable.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9632" y="868680"/>
            <a:ext cx="5074920" cy="504748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170432"/>
            <a:ext cx="256032" cy="658368"/>
          </a:xfrm>
          <a:prstGeom prst="rect">
            <a:avLst/>
          </a:prstGeom>
          <a:solidFill>
            <a:srgbClr val="1F7A5C"/>
          </a:solidFill>
          <a:ln w="12700">
            <a:solidFill>
              <a:srgbClr val="162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9168" y="1353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11312" y="1170432"/>
            <a:ext cx="2514600" cy="658368"/>
          </a:xfrm>
          <a:prstGeom prst="rect">
            <a:avLst/>
          </a:prstGeom>
          <a:solidFill>
            <a:srgbClr val="DDF3EA"/>
          </a:solidFill>
          <a:ln w="11430">
            <a:solidFill>
              <a:srgbClr val="DDF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131673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structured invoice and requests factoring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37960" y="2249424"/>
            <a:ext cx="256032" cy="658368"/>
          </a:xfrm>
          <a:prstGeom prst="rect">
            <a:avLst/>
          </a:prstGeom>
          <a:solidFill>
            <a:srgbClr val="244D73"/>
          </a:solidFill>
          <a:ln w="12700">
            <a:solidFill>
              <a:srgbClr val="162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24323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11312" y="2249424"/>
            <a:ext cx="2514600" cy="658368"/>
          </a:xfrm>
          <a:prstGeom prst="rect">
            <a:avLst/>
          </a:prstGeom>
          <a:solidFill>
            <a:srgbClr val="E9F2FA"/>
          </a:solidFill>
          <a:ln w="11430">
            <a:solidFill>
              <a:srgbClr val="E9F2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3957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evidence and confirms Due Value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537960" y="3328416"/>
            <a:ext cx="256032" cy="658368"/>
          </a:xfrm>
          <a:prstGeom prst="rect">
            <a:avLst/>
          </a:prstGeom>
          <a:solidFill>
            <a:srgbClr val="B9822D"/>
          </a:solidFill>
          <a:ln w="12700">
            <a:solidFill>
              <a:srgbClr val="1620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35112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11312" y="3328416"/>
            <a:ext cx="2514600" cy="658368"/>
          </a:xfrm>
          <a:prstGeom prst="rect">
            <a:avLst/>
          </a:prstGeom>
          <a:solidFill>
            <a:srgbClr val="F8E7C4"/>
          </a:solidFill>
          <a:ln w="11430">
            <a:solidFill>
              <a:srgbClr val="F8E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3474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accepted receivable for yield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37960" y="4407408"/>
            <a:ext cx="256032" cy="658368"/>
          </a:xfrm>
          <a:prstGeom prst="rect">
            <a:avLst/>
          </a:prstGeom>
          <a:solidFill>
            <a:srgbClr val="C9533B"/>
          </a:solidFill>
          <a:ln w="12700">
            <a:solidFill>
              <a:srgbClr val="1620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C95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4407408"/>
            <a:ext cx="2514600" cy="658368"/>
          </a:xfrm>
          <a:prstGeom prst="rect">
            <a:avLst/>
          </a:prstGeom>
          <a:solidFill>
            <a:srgbClr val="F7E4DE"/>
          </a:solidFill>
          <a:ln w="11430">
            <a:solidFill>
              <a:srgbClr val="F7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455371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2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advance, repayment, yield, and residual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RESOLUTION LAYER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resolves commercial value before it releases finance.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2084832"/>
            <a:ext cx="1444752" cy="749808"/>
          </a:xfrm>
          <a:prstGeom prst="rect">
            <a:avLst/>
          </a:prstGeom>
          <a:solidFill>
            <a:srgbClr val="E9F2FA"/>
          </a:solidFill>
          <a:ln w="17780">
            <a:solidFill>
              <a:srgbClr val="244D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intent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2103120" y="2459736"/>
            <a:ext cx="310896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8024" y="2084832"/>
            <a:ext cx="1444752" cy="749808"/>
          </a:xfrm>
          <a:prstGeom prst="rect">
            <a:avLst/>
          </a:prstGeom>
          <a:solidFill>
            <a:srgbClr val="E9F2FA"/>
          </a:solidFill>
          <a:ln w="17780">
            <a:solidFill>
              <a:srgbClr val="244D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42616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959352" y="2459736"/>
            <a:ext cx="310896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2084832"/>
            <a:ext cx="1444752" cy="749808"/>
          </a:xfrm>
          <a:prstGeom prst="rect">
            <a:avLst/>
          </a:prstGeom>
          <a:solidFill>
            <a:srgbClr val="F8E7C4"/>
          </a:solidFill>
          <a:ln w="17780">
            <a:solidFill>
              <a:srgbClr val="B98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Value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815584" y="2459736"/>
            <a:ext cx="310896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0488" y="2084832"/>
            <a:ext cx="1444752" cy="749808"/>
          </a:xfrm>
          <a:prstGeom prst="rect">
            <a:avLst/>
          </a:prstGeom>
          <a:solidFill>
            <a:srgbClr val="F8E7C4"/>
          </a:solidFill>
          <a:ln w="17780">
            <a:solidFill>
              <a:srgbClr val="B98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test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671816" y="2459736"/>
            <a:ext cx="310896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2084832"/>
            <a:ext cx="1444752" cy="749808"/>
          </a:xfrm>
          <a:prstGeom prst="rect">
            <a:avLst/>
          </a:prstGeom>
          <a:solidFill>
            <a:srgbClr val="DDF3EA"/>
          </a:solidFill>
          <a:ln w="17780">
            <a:solidFill>
              <a:srgbClr val="1F7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payable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9528048" y="2459736"/>
            <a:ext cx="310896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2952" y="2084832"/>
            <a:ext cx="1444752" cy="749808"/>
          </a:xfrm>
          <a:prstGeom prst="rect">
            <a:avLst/>
          </a:prstGeom>
          <a:solidFill>
            <a:srgbClr val="DDF3EA"/>
          </a:solidFill>
          <a:ln w="17780">
            <a:solidFill>
              <a:srgbClr val="1F7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2157984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67544" y="27432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value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21792" y="4160520"/>
            <a:ext cx="10881360" cy="0"/>
          </a:xfrm>
          <a:prstGeom prst="line">
            <a:avLst/>
          </a:prstGeom>
          <a:noFill/>
          <a:ln w="17780">
            <a:solidFill>
              <a:srgbClr val="D7DF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480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truth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49560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PO, delivery, invoice, acceptance, and payment are distinct states.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416552" y="4480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16552" y="49560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prevention and buyer acceptance block financing of weak claims.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211312" y="4480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settlement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49560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escrow distributes principal, yield, fees, and residual balances.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VISUALIZATION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connects invoice truth, wallet funding, and settlement execution.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8001000" cy="452628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7D3"/>
            </a:solidFill>
            <a:prstDash val="solid"/>
          </a:ln>
        </p:spPr>
      </p:sp>
      <p:pic>
        <p:nvPicPr>
          <p:cNvPr id="5" name="Image 0" descr="/Users/jhee/Workplaces/Projects/ConnextiumBootCamp/WeekofCircle/ArcCommerce/docs/verity/assets/architecture-finance-suppl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55648"/>
            <a:ext cx="76352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15400" y="166420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architecture must prove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942832" y="2395728"/>
            <a:ext cx="73152" cy="7315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07424" y="232257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claims are not financeable until buyer validation creates Due Value.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8942832" y="3008376"/>
            <a:ext cx="73152" cy="7315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07424" y="2935224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 and USDC settlement make the cash movement programmable.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8942832" y="3621024"/>
            <a:ext cx="73152" cy="7315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07424" y="354787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state creates an auditable path from advance to maturity repayment.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8942832" y="4233672"/>
            <a:ext cx="73152" cy="73152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07424" y="416052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history becomes a reusable verifiable profile signal.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915400" y="5349240"/>
            <a:ext cx="2331720" cy="530352"/>
          </a:xfrm>
          <a:prstGeom prst="rect">
            <a:avLst/>
          </a:prstGeom>
          <a:solidFill>
            <a:srgbClr val="0E1B1A"/>
          </a:solidFill>
          <a:ln w="12700">
            <a:solidFill>
              <a:srgbClr val="0E1B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98280" y="555955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visual asset embedded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WORKFLOW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 surfaces converge on one accepted receivable marketplace.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874520"/>
            <a:ext cx="3063240" cy="3456432"/>
          </a:xfrm>
          <a:prstGeom prst="rect">
            <a:avLst/>
          </a:prstGeom>
          <a:solidFill>
            <a:srgbClr val="DDF3EA"/>
          </a:solidFill>
          <a:ln w="11430">
            <a:solidFill>
              <a:srgbClr val="1F7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/ SME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" y="2907792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999232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408176" y="29809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invoice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2688" y="3657600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74904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408176" y="37307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factoring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2688" y="4407408"/>
            <a:ext cx="310896" cy="31089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4988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408176" y="4480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USDC advance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43984" y="1874520"/>
            <a:ext cx="3063240" cy="3456432"/>
          </a:xfrm>
          <a:prstGeom prst="rect">
            <a:avLst/>
          </a:prstGeom>
          <a:solidFill>
            <a:srgbClr val="E9F2FA"/>
          </a:solidFill>
          <a:ln w="11430">
            <a:solidFill>
              <a:srgbClr val="244D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/ Enterprise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907792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99232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230368" y="29809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4904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230368" y="37307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Due Value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4407408"/>
            <a:ext cx="310896" cy="310896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4988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230368" y="4480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at maturity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66176" y="1874520"/>
            <a:ext cx="3063240" cy="3456432"/>
          </a:xfrm>
          <a:prstGeom prst="rect">
            <a:avLst/>
          </a:prstGeom>
          <a:solidFill>
            <a:srgbClr val="F8E7C4"/>
          </a:solidFill>
          <a:ln w="11430">
            <a:solidFill>
              <a:srgbClr val="B98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/ Factor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77072" y="2907792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8512" y="2999232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052560" y="29809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receivable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77072" y="3657600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68512" y="374904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052560" y="37307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escrow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77072" y="4407408"/>
            <a:ext cx="310896" cy="310896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44988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052560" y="44805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principal + yield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86200" y="56235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C95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47488" y="5596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value is separated from face value, making the financed asset auditable.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delivery proves the full Due Value-to-settlement loop.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2414016"/>
            <a:ext cx="1444752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084832"/>
            <a:ext cx="658368" cy="658368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schemas, roles, state machine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36392" y="2414016"/>
            <a:ext cx="1444752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2084832"/>
            <a:ext cx="658368" cy="65836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truth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78024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issue + buyer acceptance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992624" y="2414016"/>
            <a:ext cx="1444752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2084832"/>
            <a:ext cx="658368" cy="658368"/>
          </a:xfrm>
          <a:prstGeom prst="ellipse">
            <a:avLst/>
          </a:prstGeom>
          <a:solidFill>
            <a:srgbClr val="B9822D"/>
          </a:solidFill>
          <a:ln w="12700">
            <a:solidFill>
              <a:srgbClr val="B9822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4256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34256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factoring request + investor funding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48856" y="2414016"/>
            <a:ext cx="1444752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2084832"/>
            <a:ext cx="658368" cy="658368"/>
          </a:xfrm>
          <a:prstGeom prst="ellipse">
            <a:avLst/>
          </a:prstGeom>
          <a:solidFill>
            <a:srgbClr val="C9533B"/>
          </a:solidFill>
          <a:ln w="12700">
            <a:solidFill>
              <a:srgbClr val="C9533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0488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C95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advance, retention, maturity settlement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705088" y="2414016"/>
            <a:ext cx="1444752" cy="0"/>
          </a:xfrm>
          <a:prstGeom prst="line">
            <a:avLst/>
          </a:prstGeom>
          <a:noFill/>
          <a:ln w="15240">
            <a:solidFill>
              <a:srgbClr val="D7DF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2084832"/>
            <a:ext cx="658368" cy="658368"/>
          </a:xfrm>
          <a:prstGeom prst="ellipse">
            <a:avLst/>
          </a:prstGeom>
          <a:solidFill>
            <a:srgbClr val="244D73"/>
          </a:solidFill>
          <a:ln w="12700">
            <a:solidFill>
              <a:srgbClr val="244D7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+ payment profile evidence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902952" y="2084832"/>
            <a:ext cx="658368" cy="65836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2286000"/>
            <a:ext cx="155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02952" y="31546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02952" y="37490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validation and polish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21792" y="5074920"/>
            <a:ext cx="5138928" cy="749808"/>
          </a:xfrm>
          <a:prstGeom prst="rect">
            <a:avLst/>
          </a:prstGeom>
          <a:solidFill>
            <a:srgbClr val="0E1B1A"/>
          </a:solidFill>
          <a:ln w="12700">
            <a:solidFill>
              <a:srgbClr val="0E1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330952"/>
            <a:ext cx="1243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9EE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acceptance rule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816352" y="5230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demo must show accepted Due Value financed, advanced, repaid, and reconciled.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181344" y="5074920"/>
            <a:ext cx="5047488" cy="74980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533095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882128" y="5230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-&gt; Use Cases -&gt; MVP Roadmap, with UC-001 through UC-014 validating the product thesis.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ANALYSIS / WHY NOW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should accelerate risk judgment, not replace Verity's acceptance and policy controls.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901952"/>
            <a:ext cx="4983480" cy="822960"/>
          </a:xfrm>
          <a:prstGeom prst="rect">
            <a:avLst/>
          </a:prstGeom>
          <a:solidFill>
            <a:srgbClr val="DDF3E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57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3042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as a decision-support layer across invoice submission, buyer validation, funding eligibility, allocation, and settlement monitoring.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21792" y="2980944"/>
            <a:ext cx="4983480" cy="822960"/>
          </a:xfrm>
          <a:prstGeom prst="rect">
            <a:avLst/>
          </a:prstGeom>
          <a:solidFill>
            <a:srgbClr val="E9F2F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136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rules miss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33832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checks struggle with emerging buyer stress, low-grade dispute patterns, invoice manipulation signals, and portfolio drift that only becomes visible over time.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21792" y="4059936"/>
            <a:ext cx="4983480" cy="822960"/>
          </a:xfrm>
          <a:prstGeom prst="rect">
            <a:avLst/>
          </a:prstGeom>
          <a:solidFill>
            <a:srgbClr val="F8E7C4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2153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44622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credit decisions, earlier loss prevention, stronger investor confidence, and a smaller manual-review burden for risk operations.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163056" y="1901952"/>
            <a:ext cx="233172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10312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C95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risk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382512" y="2404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near-duplicate invoices, semantic document mismatches, abnormal tenor shifts, and suspicious submission cadence earlier.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769096" y="1901952"/>
            <a:ext cx="233172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210312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988552" y="2404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probability of delay or default using repayment timing, dispute history, and concentration across buyer obligations.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163056" y="3319272"/>
            <a:ext cx="233172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52044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382512" y="3822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supplier reliability issues from correction frequency, completeness gaps, and recurring workflow exceptions.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769096" y="3319272"/>
            <a:ext cx="233172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352044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risk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988552" y="3822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exposure drift across buyers, sectors, geographies, and funded assets before deterioration shows up in realized losses.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 + AI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ANALYSIS / WORKFLOW FIT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workflow state gets an explainable AI output that improves prioritization, pricing, and monitoring.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2011680"/>
            <a:ext cx="3154680" cy="1417320"/>
          </a:xfrm>
          <a:prstGeom prst="rect">
            <a:avLst/>
          </a:prstGeom>
          <a:solidFill>
            <a:srgbClr val="E9F2F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Submission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877824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document completeness, invoice-to-PO semantic fit, abnormal value or tenor, and suspicious supplier behavior.</a:t>
            </a:r>
            <a:endParaRPr lang="en-US" sz="890" dirty="0"/>
          </a:p>
        </p:txBody>
      </p:sp>
      <p:sp>
        <p:nvSpPr>
          <p:cNvPr id="7" name="Shape 5"/>
          <p:cNvSpPr/>
          <p:nvPr/>
        </p:nvSpPr>
        <p:spPr>
          <a:xfrm>
            <a:off x="4443984" y="2011680"/>
            <a:ext cx="3154680" cy="1417320"/>
          </a:xfrm>
          <a:prstGeom prst="rect">
            <a:avLst/>
          </a:prstGeom>
          <a:solidFill>
            <a:srgbClr val="DDF3E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Buyer review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700016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high-risk invoices, suggest hold reasons, and estimate dispute likelihood before acceptance becomes financeable.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8266176" y="2011680"/>
            <a:ext cx="3154680" cy="1417320"/>
          </a:xfrm>
          <a:prstGeom prst="rect">
            <a:avLst/>
          </a:prstGeom>
          <a:solidFill>
            <a:srgbClr val="F8E7C4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22208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Funding eligibility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522208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9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composite credit score, delay probability, expected loss, and pricing or advance-rate guidance.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932688" y="4206240"/>
            <a:ext cx="1010412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448970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7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allocation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675888" y="43434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model outputs into investor-safe narratives like low-risk anchor receivable, operationally volatile, or high-yield high-dispute exposure.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32688" y="5257800"/>
            <a:ext cx="10104120" cy="777240"/>
          </a:xfrm>
          <a:prstGeom prst="rect">
            <a:avLst/>
          </a:prstGeom>
          <a:solidFill>
            <a:srgbClr val="0E1B1A"/>
          </a:solidFill>
          <a:ln w="12700">
            <a:solidFill>
              <a:srgbClr val="0E1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554126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70" b="1" dirty="0">
                <a:solidFill>
                  <a:srgbClr val="9EE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monitoring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3675888" y="539496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assign watchlists, trigger early warning alerts, and queue collections or operations attention before maturity is missed.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 + AI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ANALYSIS / OPERATING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80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rollout should stay hybrid: deterministic controls first, explainable models second, human approval for material decisions.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2029968"/>
            <a:ext cx="2331720" cy="1993392"/>
          </a:xfrm>
          <a:prstGeom prst="rect">
            <a:avLst/>
          </a:prstGeom>
          <a:solidFill>
            <a:srgbClr val="DDF3E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controls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81635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gates, eligibility rules, duplicate prevention, and acceptance states remain deterministic and auditable.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410712" y="2029968"/>
            <a:ext cx="2331720" cy="1993392"/>
          </a:xfrm>
          <a:prstGeom prst="rect">
            <a:avLst/>
          </a:prstGeom>
          <a:solidFill>
            <a:srgbClr val="E9F2FA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44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30168" y="281635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and anomaly models enrich buyer risk, supplier reliability, invoice fraud, and portfolio deterioration signals.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99632" y="2029968"/>
            <a:ext cx="2331720" cy="1993392"/>
          </a:xfrm>
          <a:prstGeom prst="rect">
            <a:avLst/>
          </a:prstGeom>
          <a:solidFill>
            <a:srgbClr val="F8E7C4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B98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281635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should return reason codes, risk banding, and supporting factors that investors and operators can review.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88552" y="2029968"/>
            <a:ext cx="2331720" cy="1993392"/>
          </a:xfrm>
          <a:prstGeom prst="rect">
            <a:avLst/>
          </a:prstGeom>
          <a:solidFill>
            <a:srgbClr val="F7E4DE"/>
          </a:solidFill>
          <a:ln w="11430">
            <a:solidFill>
              <a:srgbClr val="D7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8008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C95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08008" y="281635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advisory scoring, then controlled underwriting assistance, then portfolio-level early warning as data quality matures.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" y="4919472"/>
            <a:ext cx="10927080" cy="530352"/>
          </a:xfrm>
          <a:prstGeom prst="rect">
            <a:avLst/>
          </a:prstGeom>
          <a:solidFill>
            <a:srgbClr val="F7E4DE"/>
          </a:solidFill>
          <a:ln w="12700">
            <a:solidFill>
              <a:srgbClr val="F7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919472"/>
            <a:ext cx="0" cy="530352"/>
          </a:xfrm>
          <a:prstGeom prst="line">
            <a:avLst/>
          </a:prstGeom>
          <a:noFill/>
          <a:ln w="38100">
            <a:solidFill>
              <a:srgbClr val="C953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10235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rule: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38528" y="505663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" dirty="0">
                <a:solidFill>
                  <a:srgbClr val="162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enriches Verity's credit and fraud analysis, but funding decisions must remain explainable, reviewable, and overrideable by policy owners.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21208" y="6446520"/>
            <a:ext cx="11137392" cy="0"/>
          </a:xfrm>
          <a:prstGeom prst="line">
            <a:avLst/>
          </a:prstGeom>
          <a:noFill/>
          <a:ln w="8890">
            <a:solidFill>
              <a:srgbClr val="D7D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651967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Finux Labs - Verity SCF + AI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11320272" y="65196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20" dirty="0">
                <a:solidFill>
                  <a:srgbClr val="5D6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Smart Finux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Supply Chain Finance Overview</dc:title>
  <dc:subject>Verity Supply Chain Finance Overview</dc:subject>
  <dc:creator>Smart Finux Labs</dc:creator>
  <cp:lastModifiedBy>Smart Finux Labs</cp:lastModifiedBy>
  <cp:revision>1</cp:revision>
  <dcterms:created xsi:type="dcterms:W3CDTF">2026-05-31T22:33:52Z</dcterms:created>
  <dcterms:modified xsi:type="dcterms:W3CDTF">2026-05-31T22:33:52Z</dcterms:modified>
</cp:coreProperties>
</file>